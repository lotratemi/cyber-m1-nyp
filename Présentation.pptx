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2126160"/>
            <a:ext cx="1036260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C53AEEED-0141-4948-9D83-3C768883F45C}" type="slidenum">
              <a:rPr lang="en-GB" sz="10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7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546280" y="287280"/>
            <a:ext cx="7745760" cy="7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94480" y="1485000"/>
            <a:ext cx="9029160" cy="29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4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5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66D8D55E-9E5C-49E1-97AD-1801839B3F3B}" type="slidenum">
              <a:rPr lang="en-GB" sz="10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7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546280" y="287280"/>
            <a:ext cx="7745760" cy="7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577520"/>
            <a:ext cx="5302800" cy="25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78760" y="1577520"/>
            <a:ext cx="5302800" cy="25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7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8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06E80D37-B2EC-4B64-82FE-474234C5054C}" type="slidenum">
              <a:rPr lang="en-GB" sz="10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7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g object 16" hidden="1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bg object 16"/>
          <p:cNvPicPr/>
          <p:nvPr/>
        </p:nvPicPr>
        <p:blipFill>
          <a:blip r:embed="rId3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546280" y="287280"/>
            <a:ext cx="7745760" cy="7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ftr" idx="10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1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sldNum" idx="12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F6921F8F-AFD0-40B1-B8E3-A883B131A2EE}" type="slidenum">
              <a:rPr lang="en-GB" sz="10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7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ftr" idx="13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dt" idx="14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15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977FF422-3C96-4F96-A8CC-9294B464D5F2}" type="slidenum">
              <a:rPr lang="en-GB" sz="10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ZoneTexte 4"/>
          <p:cNvSpPr/>
          <p:nvPr/>
        </p:nvSpPr>
        <p:spPr>
          <a:xfrm>
            <a:off x="172440" y="2967480"/>
            <a:ext cx="595476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fr-FR" sz="5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Cyber Sécurité M1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ZoneTexte 5"/>
          <p:cNvSpPr/>
          <p:nvPr/>
        </p:nvSpPr>
        <p:spPr>
          <a:xfrm>
            <a:off x="172440" y="4038480"/>
            <a:ext cx="337716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Philippe DE OLIVEIRA COSTA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Nicolas DOBOSZ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Yoann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2222640" y="304920"/>
            <a:ext cx="774576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GB" sz="2800" b="0" u="none" spc="-156" strike="noStrike">
                <a:solidFill>
                  <a:srgbClr val="EF6952"/>
                </a:solidFill>
                <a:effectLst/>
                <a:uFillTx/>
                <a:latin typeface="Arial"/>
              </a:rPr>
              <a:t>US</a:t>
            </a:r>
            <a:r>
              <a:rPr lang="en-GB" sz="2800" b="0" u="none" spc="-556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pc="-26" strike="noStrike">
                <a:solidFill>
                  <a:srgbClr val="EF6952"/>
                </a:solidFill>
                <a:effectLst/>
                <a:uFillTx/>
                <a:latin typeface="Arial"/>
              </a:rPr>
              <a:t>1</a:t>
            </a:r>
            <a:r>
              <a:rPr lang="en-GB" sz="2800" b="0" u="none" spc="-49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:</a:t>
            </a:r>
            <a:r>
              <a:rPr lang="en-GB" sz="2800" b="0" u="none" spc="-38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Mise</a:t>
            </a:r>
            <a:r>
              <a:rPr lang="en-GB" sz="2800" b="0" u="none" spc="-13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en</a:t>
            </a:r>
            <a:r>
              <a:rPr lang="en-GB" sz="2800" b="0" u="none" spc="-65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place</a:t>
            </a:r>
            <a:r>
              <a:rPr lang="en-GB" sz="2800" b="0" u="none" spc="-51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d’un</a:t>
            </a:r>
            <a:r>
              <a:rPr lang="en-GB" sz="2800" b="0" u="none" spc="-45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environnement</a:t>
            </a:r>
            <a:r>
              <a:rPr lang="en-GB" sz="2800" b="0" u="none" spc="-45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pc="-11" strike="noStrike">
                <a:solidFill>
                  <a:srgbClr val="EF6952"/>
                </a:solidFill>
                <a:effectLst/>
                <a:uFillTx/>
                <a:latin typeface="Arial"/>
              </a:rPr>
              <a:t>sécurisé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" name="ZoneTexte 2"/>
          <p:cNvSpPr/>
          <p:nvPr/>
        </p:nvSpPr>
        <p:spPr>
          <a:xfrm>
            <a:off x="990720" y="2413440"/>
            <a:ext cx="495216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Création d’une machine virtuelle (VM Ware)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Isolation du réseau de la VM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Vérification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/>
          <p:cNvPicPr/>
          <p:nvPr/>
        </p:nvPicPr>
        <p:blipFill>
          <a:blip r:embed="rId1"/>
          <a:stretch/>
        </p:blipFill>
        <p:spPr>
          <a:xfrm>
            <a:off x="6455520" y="1371600"/>
            <a:ext cx="4745160" cy="478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GB" sz="2800" b="0" u="none" spc="-156" strike="noStrike">
                <a:solidFill>
                  <a:srgbClr val="EF6952"/>
                </a:solidFill>
                <a:effectLst/>
                <a:uFillTx/>
                <a:latin typeface="Arial"/>
              </a:rPr>
              <a:t>US</a:t>
            </a:r>
            <a:r>
              <a:rPr lang="en-GB" sz="2800" b="0" u="none" spc="-556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pc="-26" strike="noStrike">
                <a:solidFill>
                  <a:srgbClr val="EF6952"/>
                </a:solidFill>
                <a:effectLst/>
                <a:uFillTx/>
                <a:latin typeface="Arial"/>
              </a:rPr>
              <a:t>2</a:t>
            </a:r>
            <a:r>
              <a:rPr lang="en-GB" sz="2800" b="0" u="none" spc="-49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pc="-49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:</a:t>
            </a:r>
            <a:r>
              <a:rPr lang="fr-FR" sz="2800" b="0" u="none" spc="-38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Vérification</a:t>
            </a:r>
            <a:r>
              <a:rPr lang="fr-FR" sz="2800" b="0" u="none" spc="-96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de</a:t>
            </a:r>
            <a:r>
              <a:rPr lang="fr-FR" sz="2800" b="0" u="none" spc="-34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la</a:t>
            </a:r>
            <a:r>
              <a:rPr lang="fr-FR" sz="2800" b="0" u="none" spc="-40" strike="noStrike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pc="-11" strike="noStrike">
                <a:solidFill>
                  <a:srgbClr val="EF6952"/>
                </a:solidFill>
                <a:effectLst/>
                <a:uFillTx/>
                <a:latin typeface="Arial"/>
              </a:rPr>
              <a:t>reconnaissance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" name="ZoneTexte 3"/>
          <p:cNvSpPr/>
          <p:nvPr/>
        </p:nvSpPr>
        <p:spPr>
          <a:xfrm>
            <a:off x="914400" y="2690280"/>
            <a:ext cx="4952160" cy="14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Récupération du SHA256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Comparer et rechercher sur plusieurs sites d’analyse de virus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5"/>
          <p:cNvPicPr/>
          <p:nvPr/>
        </p:nvPicPr>
        <p:blipFill>
          <a:blip r:embed="rId1"/>
          <a:stretch/>
        </p:blipFill>
        <p:spPr>
          <a:xfrm>
            <a:off x="6095880" y="1029960"/>
            <a:ext cx="5180760" cy="262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7"/>
          <p:cNvPicPr/>
          <p:nvPr/>
        </p:nvPicPr>
        <p:blipFill>
          <a:blip r:embed="rId2"/>
          <a:stretch/>
        </p:blipFill>
        <p:spPr>
          <a:xfrm>
            <a:off x="6095880" y="3981960"/>
            <a:ext cx="5180760" cy="272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US3 : Analyse statique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" name="ZoneTexte 3"/>
          <p:cNvSpPr/>
          <p:nvPr/>
        </p:nvSpPr>
        <p:spPr>
          <a:xfrm>
            <a:off x="2495520" y="2274840"/>
            <a:ext cx="720036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Utilise Qt5Core.dll (QSettings) pour la persistance et NSt6thread pour tourner en tâche de fond.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Sections PE standard (.text, .data) et détection de touches clavier ([Ent, [DEL, [Ech).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Indicateur de compromission : Binaire Res.exe, clés QSettings et captures de frappes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US4 : Analyse dynamique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" name="ZoneTexte 3"/>
          <p:cNvSpPr/>
          <p:nvPr/>
        </p:nvSpPr>
        <p:spPr>
          <a:xfrm>
            <a:off x="609480" y="2057400"/>
            <a:ext cx="6095160" cy="341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Utilisation de Process Monitor. </a:t>
            </a:r>
            <a:br>
              <a:rPr sz="1800"/>
            </a:b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Montre une tentative d'altération ou d'inspection de la configuration du système hôte.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Activités réseau identifiées : La capture de trafic effectuée en parallèle sur Wireshark n'a révélé aucun flux sortant.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Création de fichiers / processus détectée : Chargement de plusieurs bibliothèques système 32-bits situées dans C:\Windows\SysWOW64. Plusieurs fichiers ont été créés.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5"/>
          <p:cNvPicPr/>
          <p:nvPr/>
        </p:nvPicPr>
        <p:blipFill>
          <a:blip r:embed="rId1"/>
          <a:srcRect l="0" t="0" r="49163" b="0"/>
          <a:stretch/>
        </p:blipFill>
        <p:spPr>
          <a:xfrm>
            <a:off x="6903360" y="1814760"/>
            <a:ext cx="4678200" cy="3900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US5 : Evaluation des risques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" name=""/>
          <p:cNvSpPr/>
          <p:nvPr/>
        </p:nvSpPr>
        <p:spPr>
          <a:xfrm>
            <a:off x="2160000" y="1440000"/>
            <a:ext cx="8459640" cy="48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-   Impact du malware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-   Niveau de risque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-   Recommandations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"/>
          <p:cNvPicPr/>
          <p:nvPr/>
        </p:nvPicPr>
        <p:blipFill>
          <a:blip r:embed="rId1"/>
          <a:stretch/>
        </p:blipFill>
        <p:spPr>
          <a:xfrm>
            <a:off x="5580000" y="1211760"/>
            <a:ext cx="6199920" cy="418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US6 : Acquisition mémoire vive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" name="ZoneTexte 1"/>
          <p:cNvSpPr/>
          <p:nvPr/>
        </p:nvSpPr>
        <p:spPr>
          <a:xfrm>
            <a:off x="2495880" y="2275200"/>
            <a:ext cx="72003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Magnet RAM Capture et  Volatility  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Processus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Réseau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"/>
          <p:cNvPicPr/>
          <p:nvPr/>
        </p:nvPicPr>
        <p:blipFill>
          <a:blip r:embed="rId1"/>
          <a:stretch/>
        </p:blipFill>
        <p:spPr>
          <a:xfrm>
            <a:off x="2550600" y="4320000"/>
            <a:ext cx="9509400" cy="132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"/>
          <p:cNvPicPr/>
          <p:nvPr/>
        </p:nvPicPr>
        <p:blipFill>
          <a:blip r:embed="rId2"/>
          <a:stretch/>
        </p:blipFill>
        <p:spPr>
          <a:xfrm>
            <a:off x="7868520" y="1080000"/>
            <a:ext cx="3291480" cy="268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US7 : Acquisition disque dur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500000"/>
            <a:ext cx="5300000" cy="32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Outil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Exterro FTK Imager 8.3.0.27, image au format E01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Image bit-à-bit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disque physique complet (PHYSICALDRIVE0), 125 829 120 secteurs, aucun bloc défectueux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Intégrité vérifiée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MD5 et SHA1 concordants (Verify result : Match)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Fichiers suspects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Env.exe (52 Ko) et Res.exe (25 Ko) retrouvés dans l'image avec les DLL Qt5 / MinGW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Verify 54"/>
          <p:cNvPicPr/>
          <p:nvPr/>
        </p:nvPicPr>
        <p:blipFill>
          <a:blip r:embed="rId1"/>
          <a:stretch/>
        </p:blipFill>
        <p:spPr>
          <a:xfrm>
            <a:off x="7175000" y="1450000"/>
            <a:ext cx="3500000" cy="229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FTK 55"/>
          <p:cNvPicPr/>
          <p:nvPr/>
        </p:nvPicPr>
        <p:blipFill>
          <a:blip r:embed="rId2"/>
          <a:stretch/>
        </p:blipFill>
        <p:spPr>
          <a:xfrm>
            <a:off x="6250000" y="3950000"/>
            <a:ext cx="5350000" cy="21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Legende 56"/>
          <p:cNvSpPr/>
          <p:nvPr/>
        </p:nvSpPr>
        <p:spPr>
          <a:xfrm>
            <a:off x="6250000" y="6180000"/>
            <a:ext cx="535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Intégrité de l'image E01 et fichiers suspects localisés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US8 : Analyse croisée RAM / Disque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400000"/>
            <a:ext cx="10900000" cy="29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Outil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Volatility 3 (windows.pslist, netscan, registry.printkey) sur un dump mémoire de 5,86 Go acquis avec DumpIt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Correspondance mémoire / disque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Res.exe (PID 7356) actif en mémoire, lancé par explorer.exe (PPID 3296) — même binaire que celui identifié sur l'image disque (US7)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Persistance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aucune entrée liée au malware dans CurrentVersion\Run (seuls SecurityHealth et VMware User Process)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Réseau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netscan ne remonte aucune connexion pour le PID 7356, cohérent avec l'absence de flux Wireshark (US4)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Volatility 54"/>
          <p:cNvPicPr/>
          <p:nvPr/>
        </p:nvPicPr>
        <p:blipFill>
          <a:blip r:embed="rId1"/>
          <a:stretch/>
        </p:blipFill>
        <p:spPr>
          <a:xfrm>
            <a:off x="1096000" y="3900000"/>
            <a:ext cx="10000000" cy="161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Legende 55"/>
          <p:cNvSpPr/>
          <p:nvPr/>
        </p:nvSpPr>
        <p:spPr>
          <a:xfrm>
            <a:off x="1096000" y="5570000"/>
            <a:ext cx="100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Res.exe présent en mémoire (pslist) et absent de netscan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US9 : Identification de la clé USB utilisée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400000"/>
            <a:ext cx="10900000" cy="26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Source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ruche de registre SYSTEM, clé ControlSet001\Enum\USBSTOR, lue avec Registry Explorer v2026.5.0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Périphérique identifié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SanDisk Cruzer Blade USB Device (Ven_SanDisk, Prod_Cruzer_Blade, Rev_1.00)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Numéro de série unique (UID)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4C530000281008116284&amp;0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Disk Id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{635b1203-467e-11ea-ba75-000c295e7ac0}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USBSTOR 54"/>
          <p:cNvPicPr/>
          <p:nvPr/>
        </p:nvPicPr>
        <p:blipFill>
          <a:blip r:embed="rId1"/>
          <a:stretch/>
        </p:blipFill>
        <p:spPr>
          <a:xfrm>
            <a:off x="596000" y="3700000"/>
            <a:ext cx="11000000" cy="14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Legende 55"/>
          <p:cNvSpPr/>
          <p:nvPr/>
        </p:nvSpPr>
        <p:spPr>
          <a:xfrm>
            <a:off x="596000" y="5240000"/>
            <a:ext cx="110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Clé USBSTOR : modèle, numéro de série et Disk Id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US10 : Chronologie de la fuite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400000"/>
            <a:ext cx="10900000" cy="22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Horodatages exploitables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(clé USBSTOR, périphérique 4C530000281008116284&amp;0) :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First Installed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03/02/2020 à 12:12:32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Last Connected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03/02/2020 à 12:44:21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Last Removed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03/02/2020 à 12:45:00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Fenêtre d'utilisation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environ 32 minutes le 03/02/2020, à comparer aux dates supposées de fuite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Zoom 54"/>
          <p:cNvPicPr/>
          <p:nvPr/>
        </p:nvPicPr>
        <p:blipFill>
          <a:blip r:embed="rId1"/>
          <a:stretch/>
        </p:blipFill>
        <p:spPr>
          <a:xfrm>
            <a:off x="596000" y="3200000"/>
            <a:ext cx="11000000" cy="54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Legende 55"/>
          <p:cNvSpPr/>
          <p:nvPr/>
        </p:nvSpPr>
        <p:spPr>
          <a:xfrm>
            <a:off x="596000" y="3800000"/>
            <a:ext cx="110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Zoom : horodatages complets de la clé USB</a:t>
            </a:r>
          </a:p>
        </p:txBody>
      </p:sp>
      <p:pic>
        <p:nvPicPr>
          <p:cNvPr id="56" name="RegistryExplorer 56"/>
          <p:cNvPicPr/>
          <p:nvPr/>
        </p:nvPicPr>
        <p:blipFill>
          <a:blip r:embed="rId2"/>
          <a:stretch/>
        </p:blipFill>
        <p:spPr>
          <a:xfrm>
            <a:off x="2846000" y="4300000"/>
            <a:ext cx="6500000" cy="17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Legende 57"/>
          <p:cNvSpPr/>
          <p:nvPr/>
        </p:nvSpPr>
        <p:spPr>
          <a:xfrm>
            <a:off x="2846000" y="6150000"/>
            <a:ext cx="65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Clé USBSTOR dans Registry Explorer (ruche SYSTEM)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Application>LibreOffice/26.2.5.2$Windows_X86_64 LibreOffice_project/cd7284b4cbbfeb507e630c1aac019f4157393acb</Application>
  <AppVersion>15.0000</AppVersion>
  <Words>219</Words>
  <Paragraphs>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2026-09-16T08:45:27Z</dcterms:created>
  <dc:creator>Pierre-Henri FRICOT</dc:creator>
  <dc:description/>
  <dc:language>en-GB</dc:language>
  <cp:lastModifiedBy/>
  <dcterms:modified xsi:type="dcterms:W3CDTF">2026-09-17T12:14:00Z</dcterms:modified>
  <cp:revision>18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Microsoft® PowerPoint® pour Microsoft 365</vt:lpwstr>
  </property>
  <property fmtid="{D5CDD505-2E9C-101B-9397-08002B2CF9AE}" pid="5" name="LastSaved">
    <vt:filetime>2026-09-16T00:00:00Z</vt:filetime>
  </property>
  <property fmtid="{D5CDD505-2E9C-101B-9397-08002B2CF9AE}" pid="6" name="PresentationFormat">
    <vt:lpwstr>Grand écran</vt:lpwstr>
  </property>
  <property fmtid="{D5CDD505-2E9C-101B-9397-08002B2CF9AE}" pid="7" name="Producer">
    <vt:lpwstr>Microsoft® PowerPoint® pour Microsoft 365</vt:lpwstr>
  </property>
  <property fmtid="{D5CDD505-2E9C-101B-9397-08002B2CF9AE}" pid="8" name="Slides">
    <vt:i4>11</vt:i4>
  </property>
</Properties>
</file>