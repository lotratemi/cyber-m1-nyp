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 object 16"/>
          <p:cNvPicPr/>
          <p:nvPr/>
        </p:nvPicPr>
        <p:blipFill>
          <a:blip r:embed="rId2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914400" y="2126160"/>
            <a:ext cx="10362600" cy="4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ftr" idx="1"/>
          </p:nvPr>
        </p:nvSpPr>
        <p:spPr>
          <a:xfrm>
            <a:off x="4145400" y="6378120"/>
            <a:ext cx="3900600" cy="34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dt" idx="2"/>
          </p:nvPr>
        </p:nvSpPr>
        <p:spPr>
          <a:xfrm>
            <a:off x="609480" y="6378120"/>
            <a:ext cx="2803320" cy="34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sldNum" idx="3"/>
          </p:nvPr>
        </p:nvSpPr>
        <p:spPr>
          <a:xfrm>
            <a:off x="10809000" y="6435000"/>
            <a:ext cx="518760" cy="16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 algn="l">
              <a:lnSpc>
                <a:spcPct val="100000"/>
              </a:lnSpc>
              <a:buNone/>
              <a:tabLst>
                <a:tab pos="0" algn="l"/>
              </a:tabLst>
              <a:defRPr lang="en-GB" sz="10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marL="126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Partie</a:t>
            </a:r>
            <a:r>
              <a:rPr lang="en-GB" sz="1000" b="1" u="none" spc="-45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fld id="{C53AEEED-0141-4948-9D83-3C768883F45C}" type="slidenum">
              <a:rPr lang="en-GB" sz="1000" b="1" u="none" spc="-51" strike="noStrike">
                <a:solidFill>
                  <a:schemeClr val="lt1"/>
                </a:solidFill>
                <a:effectLst/>
                <a:uFillTx/>
                <a:latin typeface="Arial"/>
              </a:rPr>
              <a:t>7</a:t>
            </a:fld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g object 16"/>
          <p:cNvPicPr/>
          <p:nvPr/>
        </p:nvPicPr>
        <p:blipFill>
          <a:blip r:embed="rId2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2546280" y="287280"/>
            <a:ext cx="7745760" cy="731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294480" y="1485000"/>
            <a:ext cx="9029160" cy="2977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572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9144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3716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8288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286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7432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ftr" idx="4"/>
          </p:nvPr>
        </p:nvSpPr>
        <p:spPr>
          <a:xfrm>
            <a:off x="4145400" y="6378120"/>
            <a:ext cx="3900600" cy="34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dt" idx="5"/>
          </p:nvPr>
        </p:nvSpPr>
        <p:spPr>
          <a:xfrm>
            <a:off x="609480" y="6378120"/>
            <a:ext cx="2803320" cy="34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sldNum" idx="6"/>
          </p:nvPr>
        </p:nvSpPr>
        <p:spPr>
          <a:xfrm>
            <a:off x="10809000" y="6435000"/>
            <a:ext cx="518760" cy="16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 algn="l">
              <a:lnSpc>
                <a:spcPct val="100000"/>
              </a:lnSpc>
              <a:buNone/>
              <a:tabLst>
                <a:tab pos="0" algn="l"/>
              </a:tabLst>
              <a:defRPr lang="en-GB" sz="10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marL="126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Partie</a:t>
            </a:r>
            <a:r>
              <a:rPr lang="en-GB" sz="1000" b="1" u="none" spc="-45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fld id="{66D8D55E-9E5C-49E1-97AD-1801839B3F3B}" type="slidenum">
              <a:rPr lang="en-GB" sz="1000" b="1" u="none" spc="-51" strike="noStrike">
                <a:solidFill>
                  <a:schemeClr val="lt1"/>
                </a:solidFill>
                <a:effectLst/>
                <a:uFillTx/>
                <a:latin typeface="Arial"/>
              </a:rPr>
              <a:t>7</a:t>
            </a:fld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wo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bg object 16"/>
          <p:cNvPicPr/>
          <p:nvPr/>
        </p:nvPicPr>
        <p:blipFill>
          <a:blip r:embed="rId2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2546280" y="287280"/>
            <a:ext cx="7745760" cy="731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09480" y="1577520"/>
            <a:ext cx="5302800" cy="25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572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9144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3716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8288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286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7432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78760" y="1577520"/>
            <a:ext cx="5302800" cy="25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572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9144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3716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8288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286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7432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7"/>
          </p:nvPr>
        </p:nvSpPr>
        <p:spPr>
          <a:xfrm>
            <a:off x="4145400" y="6378120"/>
            <a:ext cx="3900600" cy="34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dt" idx="8"/>
          </p:nvPr>
        </p:nvSpPr>
        <p:spPr>
          <a:xfrm>
            <a:off x="609480" y="6378120"/>
            <a:ext cx="2803320" cy="34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6"/>
          <p:cNvSpPr>
            <a:spLocks noGrp="1"/>
          </p:cNvSpPr>
          <p:nvPr>
            <p:ph type="sldNum" idx="9"/>
          </p:nvPr>
        </p:nvSpPr>
        <p:spPr>
          <a:xfrm>
            <a:off x="10809000" y="6435000"/>
            <a:ext cx="518760" cy="16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 algn="l">
              <a:lnSpc>
                <a:spcPct val="100000"/>
              </a:lnSpc>
              <a:buNone/>
              <a:tabLst>
                <a:tab pos="0" algn="l"/>
              </a:tabLst>
              <a:defRPr lang="en-GB" sz="10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marL="126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Partie</a:t>
            </a:r>
            <a:r>
              <a:rPr lang="en-GB" sz="1000" b="1" u="none" spc="-45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fld id="{06E80D37-B2EC-4B64-82FE-474234C5054C}" type="slidenum">
              <a:rPr lang="en-GB" sz="1000" b="1" u="none" spc="-51" strike="noStrike">
                <a:solidFill>
                  <a:schemeClr val="lt1"/>
                </a:solidFill>
                <a:effectLst/>
                <a:uFillTx/>
                <a:latin typeface="Arial"/>
              </a:rPr>
              <a:t>7</a:t>
            </a:fld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g object 16" hidden="1"/>
          <p:cNvPicPr/>
          <p:nvPr/>
        </p:nvPicPr>
        <p:blipFill>
          <a:blip r:embed="rId2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" name="bg object 16"/>
          <p:cNvPicPr/>
          <p:nvPr/>
        </p:nvPicPr>
        <p:blipFill>
          <a:blip r:embed="rId3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2546280" y="287280"/>
            <a:ext cx="7745760" cy="731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ftr" idx="10"/>
          </p:nvPr>
        </p:nvSpPr>
        <p:spPr>
          <a:xfrm>
            <a:off x="4145400" y="6378120"/>
            <a:ext cx="3900600" cy="34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1"/>
          </p:nvPr>
        </p:nvSpPr>
        <p:spPr>
          <a:xfrm>
            <a:off x="609480" y="6378120"/>
            <a:ext cx="2803320" cy="34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sldNum" idx="12"/>
          </p:nvPr>
        </p:nvSpPr>
        <p:spPr>
          <a:xfrm>
            <a:off x="10809000" y="6435000"/>
            <a:ext cx="518760" cy="16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 algn="l">
              <a:lnSpc>
                <a:spcPct val="100000"/>
              </a:lnSpc>
              <a:buNone/>
              <a:tabLst>
                <a:tab pos="0" algn="l"/>
              </a:tabLst>
              <a:defRPr lang="en-GB" sz="10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marL="126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Partie</a:t>
            </a:r>
            <a:r>
              <a:rPr lang="en-GB" sz="1000" b="1" u="none" spc="-45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fld id="{F6921F8F-AFD0-40B1-B8E3-A883B131A2EE}" type="slidenum">
              <a:rPr lang="en-GB" sz="1000" b="1" u="none" spc="-51" strike="noStrike">
                <a:solidFill>
                  <a:schemeClr val="lt1"/>
                </a:solidFill>
                <a:effectLst/>
                <a:uFillTx/>
                <a:latin typeface="Arial"/>
              </a:rPr>
              <a:t>7</a:t>
            </a:fld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bg object 16"/>
          <p:cNvPicPr/>
          <p:nvPr/>
        </p:nvPicPr>
        <p:blipFill>
          <a:blip r:embed="rId2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PlaceHolder 1"/>
          <p:cNvSpPr>
            <a:spLocks noGrp="1"/>
          </p:cNvSpPr>
          <p:nvPr>
            <p:ph type="ftr" idx="13"/>
          </p:nvPr>
        </p:nvSpPr>
        <p:spPr>
          <a:xfrm>
            <a:off x="4145400" y="6378120"/>
            <a:ext cx="3900600" cy="34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dt" idx="14"/>
          </p:nvPr>
        </p:nvSpPr>
        <p:spPr>
          <a:xfrm>
            <a:off x="609480" y="6378120"/>
            <a:ext cx="2803320" cy="34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sldNum" idx="15"/>
          </p:nvPr>
        </p:nvSpPr>
        <p:spPr>
          <a:xfrm>
            <a:off x="10809000" y="6435000"/>
            <a:ext cx="518760" cy="16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 algn="l">
              <a:lnSpc>
                <a:spcPct val="100000"/>
              </a:lnSpc>
              <a:buNone/>
              <a:tabLst>
                <a:tab pos="0" algn="l"/>
              </a:tabLst>
              <a:defRPr lang="en-GB" sz="10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marL="126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Partie</a:t>
            </a:r>
            <a:r>
              <a:rPr lang="en-GB" sz="1000" b="1" u="none" spc="-45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fld id="{977FF422-3C96-4F96-A8CC-9294B464D5F2}" type="slidenum">
              <a:rPr lang="en-GB" sz="1000" b="1" u="none" spc="-51" strike="noStrike">
                <a:solidFill>
                  <a:schemeClr val="lt1"/>
                </a:solidFill>
                <a:effectLst/>
                <a:uFillTx/>
                <a:latin typeface="Arial"/>
              </a:rPr>
              <a:t>&lt;number&gt;</a:t>
            </a:fld>
            <a:endParaRPr lang="en-GB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ZoneTexte 4"/>
          <p:cNvSpPr/>
          <p:nvPr/>
        </p:nvSpPr>
        <p:spPr>
          <a:xfrm>
            <a:off x="172440" y="2967480"/>
            <a:ext cx="5954760" cy="92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fr-FR" sz="5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Cyber Sécurité M1</a:t>
            </a:r>
            <a:endParaRPr lang="en-GB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ZoneTexte 5"/>
          <p:cNvSpPr/>
          <p:nvPr/>
        </p:nvSpPr>
        <p:spPr>
          <a:xfrm>
            <a:off x="172440" y="4038480"/>
            <a:ext cx="3377160" cy="92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Philippe DE OLIVEIRA COSTA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Nicolas DOBOSZ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Yoann 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2222640" y="304920"/>
            <a:ext cx="7745760" cy="628920"/>
          </a:xfrm>
          <a:prstGeom prst="rect">
            <a:avLst/>
          </a:prstGeom>
          <a:noFill/>
          <a:ln w="0">
            <a:noFill/>
          </a:ln>
        </p:spPr>
        <p:txBody>
          <a:bodyPr lIns="0" tIns="140400" rIns="0" bIns="0" anchor="t">
            <a:spAutoFit/>
          </a:bodyPr>
          <a:p>
            <a:pPr marL="12600" indent="0" algn="ctr">
              <a:lnSpc>
                <a:spcPct val="100000"/>
              </a:lnSpc>
              <a:spcBef>
                <a:spcPts val="96"/>
              </a:spcBef>
              <a:buNone/>
              <a:tabLst>
                <a:tab pos="0" algn="l"/>
              </a:tabLst>
            </a:pPr>
            <a:r>
              <a:rPr lang="en-GB" sz="2800" b="0" u="none" spc="-156" strike="noStrike">
                <a:solidFill>
                  <a:srgbClr val="EF6952"/>
                </a:solidFill>
                <a:effectLst/>
                <a:uFillTx/>
                <a:latin typeface="Arial"/>
              </a:rPr>
              <a:t>US</a:t>
            </a:r>
            <a:r>
              <a:rPr lang="en-GB" sz="2800" b="0" u="none" spc="-556" strike="noStrike">
                <a:solidFill>
                  <a:srgbClr val="EF6952"/>
                </a:solidFill>
                <a:effectLst/>
                <a:uFillTx/>
                <a:latin typeface="Arial"/>
              </a:rPr>
              <a:t> </a:t>
            </a:r>
            <a:r>
              <a:rPr lang="en-GB" sz="2800" b="0" u="none" spc="-26" strike="noStrike">
                <a:solidFill>
                  <a:srgbClr val="EF6952"/>
                </a:solidFill>
                <a:effectLst/>
                <a:uFillTx/>
                <a:latin typeface="Arial"/>
              </a:rPr>
              <a:t>1</a:t>
            </a:r>
            <a:r>
              <a:rPr lang="en-GB" sz="2800" b="0" u="none" spc="-490" strike="noStrike">
                <a:solidFill>
                  <a:srgbClr val="EF6952"/>
                </a:solidFill>
                <a:effectLst/>
                <a:uFillTx/>
                <a:latin typeface="Arial"/>
              </a:rPr>
              <a:t> </a:t>
            </a:r>
            <a:r>
              <a:rPr lang="en-GB" sz="2800" b="0" u="none" strike="noStrike">
                <a:solidFill>
                  <a:srgbClr val="EF6952"/>
                </a:solidFill>
                <a:effectLst/>
                <a:uFillTx/>
                <a:latin typeface="Arial"/>
              </a:rPr>
              <a:t>:</a:t>
            </a:r>
            <a:r>
              <a:rPr lang="en-GB" sz="2800" b="0" u="none" spc="-380" strike="noStrike">
                <a:solidFill>
                  <a:srgbClr val="EF6952"/>
                </a:solidFill>
                <a:effectLst/>
                <a:uFillTx/>
                <a:latin typeface="Arial"/>
              </a:rPr>
              <a:t> </a:t>
            </a:r>
            <a:r>
              <a:rPr lang="en-GB" sz="2800" b="0" u="none" strike="noStrike">
                <a:solidFill>
                  <a:srgbClr val="EF6952"/>
                </a:solidFill>
                <a:effectLst/>
                <a:uFillTx/>
                <a:latin typeface="Arial"/>
              </a:rPr>
              <a:t>Mise</a:t>
            </a:r>
            <a:r>
              <a:rPr lang="en-GB" sz="2800" b="0" u="none" spc="-130" strike="noStrike">
                <a:solidFill>
                  <a:srgbClr val="EF6952"/>
                </a:solidFill>
                <a:effectLst/>
                <a:uFillTx/>
                <a:latin typeface="Arial"/>
              </a:rPr>
              <a:t> </a:t>
            </a:r>
            <a:r>
              <a:rPr lang="en-GB" sz="2800" b="0" u="none" strike="noStrike">
                <a:solidFill>
                  <a:srgbClr val="EF6952"/>
                </a:solidFill>
                <a:effectLst/>
                <a:uFillTx/>
                <a:latin typeface="Arial"/>
              </a:rPr>
              <a:t>en</a:t>
            </a:r>
            <a:r>
              <a:rPr lang="en-GB" sz="2800" b="0" u="none" spc="-65" strike="noStrike">
                <a:solidFill>
                  <a:srgbClr val="EF6952"/>
                </a:solidFill>
                <a:effectLst/>
                <a:uFillTx/>
                <a:latin typeface="Arial"/>
              </a:rPr>
              <a:t> </a:t>
            </a:r>
            <a:r>
              <a:rPr lang="en-GB" sz="2800" b="0" u="none" strike="noStrike">
                <a:solidFill>
                  <a:srgbClr val="EF6952"/>
                </a:solidFill>
                <a:effectLst/>
                <a:uFillTx/>
                <a:latin typeface="Arial"/>
              </a:rPr>
              <a:t>place</a:t>
            </a:r>
            <a:r>
              <a:rPr lang="en-GB" sz="2800" b="0" u="none" spc="-51" strike="noStrike">
                <a:solidFill>
                  <a:srgbClr val="EF6952"/>
                </a:solidFill>
                <a:effectLst/>
                <a:uFillTx/>
                <a:latin typeface="Arial"/>
              </a:rPr>
              <a:t> </a:t>
            </a:r>
            <a:r>
              <a:rPr lang="en-GB" sz="2800" b="0" u="none" strike="noStrike">
                <a:solidFill>
                  <a:srgbClr val="EF6952"/>
                </a:solidFill>
                <a:effectLst/>
                <a:uFillTx/>
                <a:latin typeface="Arial"/>
              </a:rPr>
              <a:t>d’un</a:t>
            </a:r>
            <a:r>
              <a:rPr lang="en-GB" sz="2800" b="0" u="none" spc="-45" strike="noStrike">
                <a:solidFill>
                  <a:srgbClr val="EF6952"/>
                </a:solidFill>
                <a:effectLst/>
                <a:uFillTx/>
                <a:latin typeface="Arial"/>
              </a:rPr>
              <a:t> </a:t>
            </a:r>
            <a:r>
              <a:rPr lang="en-GB" sz="2800" b="0" u="none" strike="noStrike">
                <a:solidFill>
                  <a:srgbClr val="EF6952"/>
                </a:solidFill>
                <a:effectLst/>
                <a:uFillTx/>
                <a:latin typeface="Arial"/>
              </a:rPr>
              <a:t>environnement</a:t>
            </a:r>
            <a:r>
              <a:rPr lang="en-GB" sz="2800" b="0" u="none" spc="-45" strike="noStrike">
                <a:solidFill>
                  <a:srgbClr val="EF6952"/>
                </a:solidFill>
                <a:effectLst/>
                <a:uFillTx/>
                <a:latin typeface="Arial"/>
              </a:rPr>
              <a:t> </a:t>
            </a:r>
            <a:r>
              <a:rPr lang="en-GB" sz="2800" b="0" u="none" spc="-11" strike="noStrike">
                <a:solidFill>
                  <a:srgbClr val="EF6952"/>
                </a:solidFill>
                <a:effectLst/>
                <a:uFillTx/>
                <a:latin typeface="Arial"/>
              </a:rPr>
              <a:t>sécurisé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4" name="ZoneTexte 2"/>
          <p:cNvSpPr/>
          <p:nvPr/>
        </p:nvSpPr>
        <p:spPr>
          <a:xfrm>
            <a:off x="990720" y="2413440"/>
            <a:ext cx="4952160" cy="203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85840" indent="-285840">
              <a:lnSpc>
                <a:spcPct val="100000"/>
              </a:lnSpc>
              <a:buClr>
                <a:srgbClr val="FFFFFF"/>
              </a:buClr>
              <a:buFont typeface="OpenSymbol"/>
              <a:buChar char="-"/>
            </a:pPr>
            <a:r>
              <a:rPr lang="fr-FR" sz="18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Création d’une machine virtuelle (VM Ware)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FFFFFF"/>
              </a:buClr>
              <a:buFont typeface="OpenSymbol"/>
              <a:buChar char="-"/>
            </a:pPr>
            <a:r>
              <a:rPr lang="fr-FR" sz="18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Isolation du réseau de la VM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FFFFFF"/>
              </a:buClr>
              <a:buFont typeface="OpenSymbol"/>
              <a:buChar char="-"/>
            </a:pPr>
            <a:r>
              <a:rPr lang="fr-FR" sz="18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Vérification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" name="Image 4"/>
          <p:cNvPicPr/>
          <p:nvPr/>
        </p:nvPicPr>
        <p:blipFill>
          <a:blip r:embed="rId1"/>
          <a:stretch/>
        </p:blipFill>
        <p:spPr>
          <a:xfrm>
            <a:off x="6455520" y="1371600"/>
            <a:ext cx="4745160" cy="4781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3025800" y="304920"/>
            <a:ext cx="6139800" cy="628920"/>
          </a:xfrm>
          <a:prstGeom prst="rect">
            <a:avLst/>
          </a:prstGeom>
          <a:noFill/>
          <a:ln w="0">
            <a:noFill/>
          </a:ln>
        </p:spPr>
        <p:txBody>
          <a:bodyPr lIns="0" tIns="140400" rIns="0" bIns="0" anchor="t">
            <a:spAutoFit/>
          </a:bodyPr>
          <a:p>
            <a:pPr marL="12600" indent="0" algn="ctr">
              <a:lnSpc>
                <a:spcPct val="100000"/>
              </a:lnSpc>
              <a:spcBef>
                <a:spcPts val="96"/>
              </a:spcBef>
              <a:buNone/>
              <a:tabLst>
                <a:tab pos="0" algn="l"/>
              </a:tabLst>
            </a:pPr>
            <a:r>
              <a:rPr lang="en-GB" sz="2800" b="0" u="none" spc="-156" strike="noStrike">
                <a:solidFill>
                  <a:srgbClr val="EF6952"/>
                </a:solidFill>
                <a:effectLst/>
                <a:uFillTx/>
                <a:latin typeface="Arial"/>
              </a:rPr>
              <a:t>US</a:t>
            </a:r>
            <a:r>
              <a:rPr lang="en-GB" sz="2800" b="0" u="none" spc="-556" strike="noStrike">
                <a:solidFill>
                  <a:srgbClr val="EF6952"/>
                </a:solidFill>
                <a:effectLst/>
                <a:uFillTx/>
                <a:latin typeface="Arial"/>
              </a:rPr>
              <a:t> </a:t>
            </a:r>
            <a:r>
              <a:rPr lang="en-GB" sz="2800" b="0" u="none" spc="-26" strike="noStrike">
                <a:solidFill>
                  <a:srgbClr val="EF6952"/>
                </a:solidFill>
                <a:effectLst/>
                <a:uFillTx/>
                <a:latin typeface="Arial"/>
              </a:rPr>
              <a:t>2</a:t>
            </a:r>
            <a:r>
              <a:rPr lang="en-GB" sz="2800" b="0" u="none" spc="-490" strike="noStrike">
                <a:solidFill>
                  <a:srgbClr val="EF6952"/>
                </a:solidFill>
                <a:effectLst/>
                <a:uFillTx/>
                <a:latin typeface="Arial"/>
              </a:rPr>
              <a:t> </a:t>
            </a:r>
            <a:r>
              <a:rPr lang="fr-FR" sz="2800" b="0" u="none" spc="-490" strike="noStrike">
                <a:solidFill>
                  <a:srgbClr val="EF6952"/>
                </a:solidFill>
                <a:effectLst/>
                <a:uFillTx/>
                <a:latin typeface="Arial"/>
              </a:rPr>
              <a:t> </a:t>
            </a:r>
            <a:r>
              <a:rPr lang="fr-FR" sz="2800" b="0" u="none" strike="noStrike">
                <a:solidFill>
                  <a:srgbClr val="EF6952"/>
                </a:solidFill>
                <a:effectLst/>
                <a:uFillTx/>
                <a:latin typeface="Arial"/>
              </a:rPr>
              <a:t>:</a:t>
            </a:r>
            <a:r>
              <a:rPr lang="fr-FR" sz="2800" b="0" u="none" spc="-380" strike="noStrike">
                <a:solidFill>
                  <a:srgbClr val="EF6952"/>
                </a:solidFill>
                <a:effectLst/>
                <a:uFillTx/>
                <a:latin typeface="Arial"/>
              </a:rPr>
              <a:t> </a:t>
            </a:r>
            <a:r>
              <a:rPr lang="fr-FR" sz="2800" b="0" u="none" strike="noStrike">
                <a:solidFill>
                  <a:srgbClr val="EF6952"/>
                </a:solidFill>
                <a:effectLst/>
                <a:uFillTx/>
                <a:latin typeface="Arial"/>
              </a:rPr>
              <a:t>Vérification</a:t>
            </a:r>
            <a:r>
              <a:rPr lang="fr-FR" sz="2800" b="0" u="none" spc="-96" strike="noStrike">
                <a:solidFill>
                  <a:srgbClr val="EF6952"/>
                </a:solidFill>
                <a:effectLst/>
                <a:uFillTx/>
                <a:latin typeface="Arial"/>
              </a:rPr>
              <a:t> </a:t>
            </a:r>
            <a:r>
              <a:rPr lang="fr-FR" sz="2800" b="0" u="none" strike="noStrike">
                <a:solidFill>
                  <a:srgbClr val="EF6952"/>
                </a:solidFill>
                <a:effectLst/>
                <a:uFillTx/>
                <a:latin typeface="Arial"/>
              </a:rPr>
              <a:t>de</a:t>
            </a:r>
            <a:r>
              <a:rPr lang="fr-FR" sz="2800" b="0" u="none" spc="-34" strike="noStrike">
                <a:solidFill>
                  <a:srgbClr val="EF6952"/>
                </a:solidFill>
                <a:effectLst/>
                <a:uFillTx/>
                <a:latin typeface="Arial"/>
              </a:rPr>
              <a:t> </a:t>
            </a:r>
            <a:r>
              <a:rPr lang="fr-FR" sz="2800" b="0" u="none" strike="noStrike">
                <a:solidFill>
                  <a:srgbClr val="EF6952"/>
                </a:solidFill>
                <a:effectLst/>
                <a:uFillTx/>
                <a:latin typeface="Arial"/>
              </a:rPr>
              <a:t>la</a:t>
            </a:r>
            <a:r>
              <a:rPr lang="fr-FR" sz="2800" b="0" u="none" spc="-40" strike="noStrike">
                <a:solidFill>
                  <a:srgbClr val="EF6952"/>
                </a:solidFill>
                <a:effectLst/>
                <a:uFillTx/>
                <a:latin typeface="Arial"/>
              </a:rPr>
              <a:t> </a:t>
            </a:r>
            <a:r>
              <a:rPr lang="fr-FR" sz="2800" b="0" u="none" spc="-11" strike="noStrike">
                <a:solidFill>
                  <a:srgbClr val="EF6952"/>
                </a:solidFill>
                <a:effectLst/>
                <a:uFillTx/>
                <a:latin typeface="Arial"/>
              </a:rPr>
              <a:t>reconnaissance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7" name="ZoneTexte 3"/>
          <p:cNvSpPr/>
          <p:nvPr/>
        </p:nvSpPr>
        <p:spPr>
          <a:xfrm>
            <a:off x="914400" y="2690280"/>
            <a:ext cx="4952160" cy="14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85840" indent="-285840">
              <a:lnSpc>
                <a:spcPct val="100000"/>
              </a:lnSpc>
              <a:buClr>
                <a:srgbClr val="FFFFFF"/>
              </a:buClr>
              <a:buFont typeface="OpenSymbol"/>
              <a:buChar char="-"/>
            </a:pPr>
            <a:r>
              <a:rPr lang="fr-FR" sz="18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Récupération du SHA256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FFFFFF"/>
              </a:buClr>
              <a:buFont typeface="OpenSymbol"/>
              <a:buChar char="-"/>
            </a:pPr>
            <a:r>
              <a:rPr lang="fr-FR" sz="18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Comparer et rechercher sur plusieurs sites d’analyse de virus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" name="Image 5"/>
          <p:cNvPicPr/>
          <p:nvPr/>
        </p:nvPicPr>
        <p:blipFill>
          <a:blip r:embed="rId1"/>
          <a:stretch/>
        </p:blipFill>
        <p:spPr>
          <a:xfrm>
            <a:off x="6095880" y="1029960"/>
            <a:ext cx="5180760" cy="2629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" name="Image 7"/>
          <p:cNvPicPr/>
          <p:nvPr/>
        </p:nvPicPr>
        <p:blipFill>
          <a:blip r:embed="rId2"/>
          <a:stretch/>
        </p:blipFill>
        <p:spPr>
          <a:xfrm>
            <a:off x="6095880" y="3981960"/>
            <a:ext cx="5180760" cy="2723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3025800" y="304920"/>
            <a:ext cx="6139800" cy="628920"/>
          </a:xfrm>
          <a:prstGeom prst="rect">
            <a:avLst/>
          </a:prstGeom>
          <a:noFill/>
          <a:ln w="0">
            <a:noFill/>
          </a:ln>
        </p:spPr>
        <p:txBody>
          <a:bodyPr lIns="0" tIns="140400" rIns="0" bIns="0" anchor="t">
            <a:spAutoFit/>
          </a:bodyPr>
          <a:p>
            <a:pPr marL="12600" indent="0" algn="ctr">
              <a:lnSpc>
                <a:spcPct val="100000"/>
              </a:lnSpc>
              <a:spcBef>
                <a:spcPts val="96"/>
              </a:spcBef>
              <a:buNone/>
              <a:tabLst>
                <a:tab pos="0" algn="l"/>
              </a:tabLst>
            </a:pPr>
            <a:r>
              <a:rPr lang="fr-FR" sz="2800" b="0" u="none" strike="noStrike">
                <a:solidFill>
                  <a:srgbClr val="EF6952"/>
                </a:solidFill>
                <a:effectLst/>
                <a:uFillTx/>
                <a:latin typeface="Arial MT"/>
              </a:rPr>
              <a:t>US3 : Analyse statique 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1" name="ZoneTexte 3"/>
          <p:cNvSpPr/>
          <p:nvPr/>
        </p:nvSpPr>
        <p:spPr>
          <a:xfrm>
            <a:off x="2495520" y="2274840"/>
            <a:ext cx="7200360" cy="23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85840" indent="-285840">
              <a:lnSpc>
                <a:spcPct val="100000"/>
              </a:lnSpc>
              <a:buClr>
                <a:srgbClr val="FFFFFF"/>
              </a:buClr>
              <a:buFont typeface="OpenSymbol"/>
              <a:buChar char="-"/>
            </a:pPr>
            <a:r>
              <a:rPr lang="fr-FR" sz="18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Utilise Qt5Core.dll (QSettings) pour la persistance et NSt6thread pour tourner en tâche de fond.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FFFFFF"/>
              </a:buClr>
              <a:buFont typeface="OpenSymbol"/>
              <a:buChar char="-"/>
            </a:pPr>
            <a:r>
              <a:rPr lang="fr-FR" sz="18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Sections PE standard (.text, .data) et détection de touches clavier ([Ent, [DEL, [Ech).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FFFFFF"/>
              </a:buClr>
              <a:buFont typeface="OpenSymbol"/>
              <a:buChar char="-"/>
            </a:pPr>
            <a:r>
              <a:rPr lang="fr-FR" sz="18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Indicateur de compromission : Binaire Res.exe, clés QSettings et captures de frappes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3025800" y="304920"/>
            <a:ext cx="6139800" cy="628920"/>
          </a:xfrm>
          <a:prstGeom prst="rect">
            <a:avLst/>
          </a:prstGeom>
          <a:noFill/>
          <a:ln w="0">
            <a:noFill/>
          </a:ln>
        </p:spPr>
        <p:txBody>
          <a:bodyPr lIns="0" tIns="140400" rIns="0" bIns="0" anchor="t">
            <a:spAutoFit/>
          </a:bodyPr>
          <a:p>
            <a:pPr marL="12600" indent="0" algn="ctr">
              <a:lnSpc>
                <a:spcPct val="100000"/>
              </a:lnSpc>
              <a:spcBef>
                <a:spcPts val="96"/>
              </a:spcBef>
              <a:buNone/>
              <a:tabLst>
                <a:tab pos="0" algn="l"/>
              </a:tabLst>
            </a:pPr>
            <a:r>
              <a:rPr lang="fr-FR" sz="2800" b="0" u="none" strike="noStrike">
                <a:solidFill>
                  <a:srgbClr val="EF6952"/>
                </a:solidFill>
                <a:effectLst/>
                <a:uFillTx/>
                <a:latin typeface="Arial MT"/>
              </a:rPr>
              <a:t>US4 : Analyse dynamique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3" name="ZoneTexte 3"/>
          <p:cNvSpPr/>
          <p:nvPr/>
        </p:nvSpPr>
        <p:spPr>
          <a:xfrm>
            <a:off x="609480" y="2057400"/>
            <a:ext cx="6095160" cy="341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85840" indent="-285840">
              <a:lnSpc>
                <a:spcPct val="100000"/>
              </a:lnSpc>
              <a:buClr>
                <a:srgbClr val="FFFFFF"/>
              </a:buClr>
              <a:buFont typeface="OpenSymbol"/>
              <a:buChar char="-"/>
            </a:pPr>
            <a:r>
              <a:rPr lang="fr-FR" sz="18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Utilisation de Process Monitor. </a:t>
            </a:r>
            <a:br>
              <a:rPr sz="1800"/>
            </a:br>
            <a:r>
              <a:rPr lang="fr-FR" sz="18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Montre une tentative d'altération ou d'inspection de la configuration du système hôte.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FFFFFF"/>
              </a:buClr>
              <a:buFont typeface="OpenSymbol"/>
              <a:buChar char="-"/>
            </a:pPr>
            <a:r>
              <a:rPr lang="fr-FR" sz="18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Activités réseau identifiées : La capture de trafic effectuée en parallèle sur Wireshark n'a révélé aucun flux sortant.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FFFFFF"/>
              </a:buClr>
              <a:buFont typeface="OpenSymbol"/>
              <a:buChar char="-"/>
            </a:pPr>
            <a:r>
              <a:rPr lang="fr-FR" sz="18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Création de fichiers / processus détectée : Chargement de plusieurs bibliothèques système 32-bits situées dans C:\Windows\SysWOW64. Plusieurs fichiers ont été créés.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4" name="Image 5"/>
          <p:cNvPicPr/>
          <p:nvPr/>
        </p:nvPicPr>
        <p:blipFill>
          <a:blip r:embed="rId1"/>
          <a:srcRect l="0" t="0" r="49163" b="0"/>
          <a:stretch/>
        </p:blipFill>
        <p:spPr>
          <a:xfrm>
            <a:off x="6903360" y="1814760"/>
            <a:ext cx="4678200" cy="3900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3025800" y="304920"/>
            <a:ext cx="6139800" cy="628920"/>
          </a:xfrm>
          <a:prstGeom prst="rect">
            <a:avLst/>
          </a:prstGeom>
          <a:noFill/>
          <a:ln w="0">
            <a:noFill/>
          </a:ln>
        </p:spPr>
        <p:txBody>
          <a:bodyPr lIns="0" tIns="140400" rIns="0" bIns="0" anchor="t">
            <a:spAutoFit/>
          </a:bodyPr>
          <a:p>
            <a:pPr marL="12600" indent="0" algn="ctr">
              <a:lnSpc>
                <a:spcPct val="100000"/>
              </a:lnSpc>
              <a:spcBef>
                <a:spcPts val="96"/>
              </a:spcBef>
              <a:buNone/>
              <a:tabLst>
                <a:tab pos="0" algn="l"/>
              </a:tabLst>
            </a:pPr>
            <a:r>
              <a:rPr lang="fr-FR" sz="2800" b="0" u="none" strike="noStrike">
                <a:solidFill>
                  <a:srgbClr val="EF6952"/>
                </a:solidFill>
                <a:effectLst/>
                <a:uFillTx/>
                <a:latin typeface="Arial MT"/>
              </a:rPr>
              <a:t>US5 : Evaluation des risques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6" name=""/>
          <p:cNvSpPr/>
          <p:nvPr/>
        </p:nvSpPr>
        <p:spPr>
          <a:xfrm>
            <a:off x="2160000" y="1440000"/>
            <a:ext cx="8459640" cy="48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lang="en-GB" sz="18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-   Impact du malware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lang="en-GB" sz="18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lang="en-GB" sz="18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lang="en-GB" sz="18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lang="en-GB" sz="18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-   Niveau de risque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lang="en-GB" sz="18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lang="en-GB" sz="18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lang="en-GB" sz="18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lang="en-GB" sz="18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-   Recommandations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7" name=""/>
          <p:cNvPicPr/>
          <p:nvPr/>
        </p:nvPicPr>
        <p:blipFill>
          <a:blip r:embed="rId1"/>
          <a:stretch/>
        </p:blipFill>
        <p:spPr>
          <a:xfrm>
            <a:off x="5580000" y="1211760"/>
            <a:ext cx="6199920" cy="4187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3025800" y="304920"/>
            <a:ext cx="6139800" cy="628920"/>
          </a:xfrm>
          <a:prstGeom prst="rect">
            <a:avLst/>
          </a:prstGeom>
          <a:noFill/>
          <a:ln w="0">
            <a:noFill/>
          </a:ln>
        </p:spPr>
        <p:txBody>
          <a:bodyPr lIns="0" tIns="140400" rIns="0" bIns="0" anchor="t">
            <a:spAutoFit/>
          </a:bodyPr>
          <a:p>
            <a:pPr marL="12600" indent="0" algn="ctr">
              <a:lnSpc>
                <a:spcPct val="100000"/>
              </a:lnSpc>
              <a:spcBef>
                <a:spcPts val="96"/>
              </a:spcBef>
              <a:buNone/>
              <a:tabLst>
                <a:tab pos="0" algn="l"/>
              </a:tabLst>
            </a:pPr>
            <a:r>
              <a:rPr lang="fr-FR" sz="2800" b="0" u="none" strike="noStrike">
                <a:solidFill>
                  <a:srgbClr val="EF6952"/>
                </a:solidFill>
                <a:effectLst/>
                <a:uFillTx/>
                <a:latin typeface="Arial MT"/>
              </a:rPr>
              <a:t>US6 : Acquisition mémoire vive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9" name="ZoneTexte 1"/>
          <p:cNvSpPr/>
          <p:nvPr/>
        </p:nvSpPr>
        <p:spPr>
          <a:xfrm>
            <a:off x="2495880" y="2275200"/>
            <a:ext cx="7200360" cy="11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85840" indent="-285840">
              <a:lnSpc>
                <a:spcPct val="100000"/>
              </a:lnSpc>
              <a:buClr>
                <a:srgbClr val="FFFFFF"/>
              </a:buClr>
              <a:buFont typeface="OpenSymbol"/>
              <a:buChar char="-"/>
            </a:pPr>
            <a:r>
              <a:rPr lang="fr-FR" sz="18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Magnet RAM Capture et  Volatility  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FFFFFF"/>
              </a:buClr>
              <a:buFont typeface="OpenSymbol"/>
              <a:buChar char="-"/>
            </a:pPr>
            <a:r>
              <a:rPr lang="fr-FR" sz="18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Processus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FFFFFF"/>
              </a:buClr>
              <a:buFont typeface="OpenSymbol"/>
              <a:buChar char="-"/>
            </a:pPr>
            <a:r>
              <a:rPr lang="fr-FR" sz="18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Réseau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0" name=""/>
          <p:cNvPicPr/>
          <p:nvPr/>
        </p:nvPicPr>
        <p:blipFill>
          <a:blip r:embed="rId1"/>
          <a:stretch/>
        </p:blipFill>
        <p:spPr>
          <a:xfrm>
            <a:off x="2550600" y="4320000"/>
            <a:ext cx="9509400" cy="1328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" name=""/>
          <p:cNvPicPr/>
          <p:nvPr/>
        </p:nvPicPr>
        <p:blipFill>
          <a:blip r:embed="rId2"/>
          <a:stretch/>
        </p:blipFill>
        <p:spPr>
          <a:xfrm>
            <a:off x="7868520" y="1080000"/>
            <a:ext cx="3291480" cy="2682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3025800" y="304920"/>
            <a:ext cx="6139800" cy="628920"/>
          </a:xfrm>
          <a:prstGeom prst="rect">
            <a:avLst/>
          </a:prstGeom>
          <a:noFill/>
          <a:ln w="0">
            <a:noFill/>
          </a:ln>
        </p:spPr>
        <p:txBody>
          <a:bodyPr lIns="0" tIns="140400" rIns="0" bIns="0" anchor="t">
            <a:spAutoFit/>
          </a:bodyPr>
          <a:p>
            <a:pPr marL="12600" indent="0" algn="ctr">
              <a:lnSpc>
                <a:spcPct val="100000"/>
              </a:lnSpc>
              <a:spcBef>
                <a:spcPts val="96"/>
              </a:spcBef>
              <a:buNone/>
              <a:tabLst>
                <a:tab pos="0" algn="l"/>
              </a:tabLst>
            </a:pPr>
            <a:r>
              <a:rPr lang="fr-FR" sz="2800" b="0" u="none" strike="noStrike">
                <a:solidFill>
                  <a:srgbClr val="EF6952"/>
                </a:solidFill>
                <a:effectLst/>
                <a:uFillTx/>
                <a:latin typeface="Arial MT"/>
              </a:rPr>
              <a:t>US7 : Acquisition disque dur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3025800" y="304920"/>
            <a:ext cx="6139800" cy="628920"/>
          </a:xfrm>
          <a:prstGeom prst="rect">
            <a:avLst/>
          </a:prstGeom>
          <a:noFill/>
          <a:ln w="0">
            <a:noFill/>
          </a:ln>
        </p:spPr>
        <p:txBody>
          <a:bodyPr lIns="0" tIns="140400" rIns="0" bIns="0" anchor="t">
            <a:spAutoFit/>
          </a:bodyPr>
          <a:p>
            <a:pPr marL="12600" indent="0" algn="ctr">
              <a:lnSpc>
                <a:spcPct val="100000"/>
              </a:lnSpc>
              <a:spcBef>
                <a:spcPts val="96"/>
              </a:spcBef>
              <a:buNone/>
              <a:tabLst>
                <a:tab pos="0" algn="l"/>
              </a:tabLst>
            </a:pPr>
            <a:r>
              <a:rPr lang="fr-FR" sz="2800" b="0" u="none" strike="noStrike">
                <a:solidFill>
                  <a:srgbClr val="EF6952"/>
                </a:solidFill>
                <a:effectLst/>
                <a:uFillTx/>
                <a:latin typeface="Arial MT"/>
              </a:rPr>
              <a:t>US8 : Analyse croisée RAM / Disque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2846520" y="304920"/>
            <a:ext cx="6498360" cy="628920"/>
          </a:xfrm>
          <a:prstGeom prst="rect">
            <a:avLst/>
          </a:prstGeom>
          <a:noFill/>
          <a:ln w="0">
            <a:noFill/>
          </a:ln>
        </p:spPr>
        <p:txBody>
          <a:bodyPr lIns="0" tIns="140400" rIns="0" bIns="0" anchor="t">
            <a:spAutoFit/>
          </a:bodyPr>
          <a:p>
            <a:pPr marL="12600" indent="0" algn="ctr">
              <a:lnSpc>
                <a:spcPct val="100000"/>
              </a:lnSpc>
              <a:spcBef>
                <a:spcPts val="96"/>
              </a:spcBef>
              <a:buNone/>
              <a:tabLst>
                <a:tab pos="0" algn="l"/>
              </a:tabLst>
            </a:pPr>
            <a:r>
              <a:rPr lang="fr-FR" sz="2800" b="0" u="none" strike="noStrike">
                <a:solidFill>
                  <a:srgbClr val="EF6952"/>
                </a:solidFill>
                <a:effectLst/>
                <a:uFillTx/>
                <a:latin typeface="Arial MT"/>
              </a:rPr>
              <a:t>US9 : Identification de la clé USB utilisée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3025800" y="304920"/>
            <a:ext cx="6139800" cy="628920"/>
          </a:xfrm>
          <a:prstGeom prst="rect">
            <a:avLst/>
          </a:prstGeom>
          <a:noFill/>
          <a:ln w="0">
            <a:noFill/>
          </a:ln>
        </p:spPr>
        <p:txBody>
          <a:bodyPr lIns="0" tIns="140400" rIns="0" bIns="0" anchor="t">
            <a:spAutoFit/>
          </a:bodyPr>
          <a:p>
            <a:pPr marL="12600" indent="0" algn="ctr">
              <a:lnSpc>
                <a:spcPct val="100000"/>
              </a:lnSpc>
              <a:spcBef>
                <a:spcPts val="96"/>
              </a:spcBef>
              <a:buNone/>
              <a:tabLst>
                <a:tab pos="0" algn="l"/>
              </a:tabLst>
            </a:pPr>
            <a:r>
              <a:rPr lang="fr-FR" sz="2800" b="0" u="none" strike="noStrike">
                <a:solidFill>
                  <a:srgbClr val="EF6952"/>
                </a:solidFill>
                <a:effectLst/>
                <a:uFillTx/>
                <a:latin typeface="Arial MT"/>
              </a:rPr>
              <a:t>US10 : Chronologie de la fuite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</TotalTime>
  <Application>LibreOffice/26.2.5.2$Windows_X86_64 LibreOffice_project/cd7284b4cbbfeb507e630c1aac019f4157393acb</Application>
  <AppVersion>15.0000</AppVersion>
  <Words>219</Words>
  <Paragraphs>35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2026-09-16T08:45:27Z</dcterms:created>
  <dc:creator>Pierre-Henri FRICOT</dc:creator>
  <dc:description/>
  <dc:language>en-GB</dc:language>
  <cp:lastModifiedBy/>
  <dcterms:modified xsi:type="dcterms:W3CDTF">2026-09-17T12:14:00Z</dcterms:modified>
  <cp:revision>18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2026-09-07T00:00:00Z</vt:filetime>
  </property>
  <property fmtid="{D5CDD505-2E9C-101B-9397-08002B2CF9AE}" pid="4" name="Creator">
    <vt:lpwstr>Microsoft® PowerPoint® pour Microsoft 365</vt:lpwstr>
  </property>
  <property fmtid="{D5CDD505-2E9C-101B-9397-08002B2CF9AE}" pid="5" name="LastSaved">
    <vt:filetime>2026-09-16T00:00:00Z</vt:filetime>
  </property>
  <property fmtid="{D5CDD505-2E9C-101B-9397-08002B2CF9AE}" pid="6" name="PresentationFormat">
    <vt:lpwstr>Grand écran</vt:lpwstr>
  </property>
  <property fmtid="{D5CDD505-2E9C-101B-9397-08002B2CF9AE}" pid="7" name="Producer">
    <vt:lpwstr>Microsoft® PowerPoint® pour Microsoft 365</vt:lpwstr>
  </property>
  <property fmtid="{D5CDD505-2E9C-101B-9397-08002B2CF9AE}" pid="8" name="Slides">
    <vt:i4>11</vt:i4>
  </property>
</Properties>
</file>